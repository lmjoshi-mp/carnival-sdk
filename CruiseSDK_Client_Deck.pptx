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note:</a:t>
            </a:r>
          </a:p>
          <a:p>
            <a:r>
              <a:t>Business promise: faster feature expansion, fewer regressions, better guest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note:</a:t>
            </a:r>
          </a:p>
          <a:p>
            <a:r>
              <a:t>This is why architecture matters more than just “API integration.”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note:</a:t>
            </a:r>
          </a:p>
          <a:p>
            <a:r>
              <a:t>The SDK itself focuses on domain + data + core; no UI layer inside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CruiseSDK: Scalable Offline-First Architecture</a:t>
            </a:r>
          </a:p>
          <a:p>
            <a:r>
              <a:t>Subtitle: Clean Architecture in KMM for reliable cruise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Built with Kotlin Multiplatform (KMM) for Android + iOS consistency</a:t>
            </a:r>
          </a:p>
          <a:p>
            <a:pPr>
              <a:defRPr sz="2000"/>
            </a:pPr>
            <a:r>
              <a:t>Uses Clean Architecture for long-term scalability</a:t>
            </a:r>
          </a:p>
          <a:p>
            <a:pPr>
              <a:defRPr sz="2000"/>
            </a:pPr>
            <a:r>
              <a:t>Designed offline-first with automatic sync and conflict handling</a:t>
            </a:r>
          </a:p>
          <a:p>
            <a:pPr>
              <a:defRPr sz="2000"/>
            </a:pPr>
            <a:r>
              <a:t>Quality enforced with automated tests and coverage 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Cruise connectivity is intermittent/unreliable</a:t>
            </a:r>
          </a:p>
          <a:p>
            <a:pPr>
              <a:defRPr sz="2000"/>
            </a:pPr>
            <a:r>
              <a:t>Operational flows cannot fail because of poor network</a:t>
            </a:r>
          </a:p>
          <a:p>
            <a:pPr>
              <a:defRPr sz="2000"/>
            </a:pPr>
            <a:r>
              <a:t>Product needs real-time behavior + offline resilience</a:t>
            </a:r>
          </a:p>
          <a:p>
            <a:pPr>
              <a:defRPr sz="2000"/>
            </a:pPr>
            <a:r>
              <a:t>New features must be added without rewriting core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Why Clean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Separation of concerns by layer</a:t>
            </a:r>
          </a:p>
          <a:p>
            <a:pPr>
              <a:defRPr sz="2000"/>
            </a:pPr>
            <a:r>
              <a:t>Low coupling between UI, business, and data access</a:t>
            </a:r>
          </a:p>
          <a:p>
            <a:pPr>
              <a:defRPr sz="2000"/>
            </a:pPr>
            <a:r>
              <a:t>Independent testing of business rules</a:t>
            </a:r>
          </a:p>
          <a:p>
            <a:pPr>
              <a:defRPr sz="2000"/>
            </a:pPr>
            <a:r>
              <a:t>Easier replacement of API/DB/infra components</a:t>
            </a:r>
          </a:p>
          <a:p>
            <a:pPr>
              <a:defRPr sz="2000"/>
            </a:pPr>
            <a:r>
              <a:t>Parallel development across teams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Architecture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Presentation: UI + ViewModel (consumer app side)</a:t>
            </a:r>
          </a:p>
          <a:p>
            <a:pPr>
              <a:defRPr sz="2000"/>
            </a:pPr>
            <a:r>
              <a:t>Domain: UseCases + Models + Repository contracts</a:t>
            </a:r>
          </a:p>
          <a:p>
            <a:pPr>
              <a:defRPr sz="2000"/>
            </a:pPr>
            <a:r>
              <a:t>Data: Repository implementations + Local/Remote + Sync</a:t>
            </a:r>
          </a:p>
          <a:p>
            <a:pPr>
              <a:defRPr sz="2000"/>
            </a:pPr>
            <a:r>
              <a:t>Core: Network, dispatchers, utilities, platform abstractions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Dependency Direction (Key Principle)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`UI -&gt; ViewModel -&gt; UseCase -&gt; Repository Interface &lt;- Repository Impl &lt;- Data Sources`</a:t>
            </a:r>
          </a:p>
          <a:p>
            <a:pPr>
              <a:defRPr sz="2000"/>
            </a:pPr>
            <a:r>
              <a:t>Dependencies always point inward toward business logic</a:t>
            </a:r>
          </a:p>
          <a:p>
            <a:pPr>
              <a:defRPr sz="2000"/>
            </a:pPr>
            <a:r>
              <a:t>Domain does not depend on frameworks (Ktor/DB/UI)</a:t>
            </a:r>
          </a:p>
          <a:p>
            <a:pPr>
              <a:defRPr sz="2000"/>
            </a:pPr>
            <a:r>
              <a:t>Data layer depends on domain, never the reverse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SDK Public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`CruiseSDK.initialize(config)`</a:t>
            </a:r>
          </a:p>
          <a:p>
            <a:pPr>
              <a:defRPr sz="2000"/>
            </a:pPr>
            <a:r>
              <a:t>`CruiseSDK.auth.login()`</a:t>
            </a:r>
          </a:p>
          <a:p>
            <a:pPr>
              <a:defRPr sz="2000"/>
            </a:pPr>
            <a:r>
              <a:t>`CruiseSDK.preferences.save()/get()`</a:t>
            </a:r>
          </a:p>
          <a:p>
            <a:pPr>
              <a:defRPr sz="2000"/>
            </a:pPr>
            <a:r>
              <a:t>`CruiseSDK.itinerary.get()`</a:t>
            </a:r>
          </a:p>
          <a:p>
            <a:pPr>
              <a:defRPr sz="2000"/>
            </a:pPr>
            <a:r>
              <a:t>`CruiseSDK.order.place()/updateStatus()/observe()`</a:t>
            </a:r>
          </a:p>
          <a:p>
            <a:pPr>
              <a:defRPr sz="2000"/>
            </a:pPr>
            <a:r>
              <a:t>`CruiseSDK.chat.send()/receive()`</a:t>
            </a:r>
          </a:p>
          <a:p>
            <a:pPr>
              <a:defRPr sz="2000"/>
            </a:pPr>
            <a:r>
              <a:t>`CruiseSDK.sync.trigger()`</a:t>
            </a:r>
          </a:p>
          <a:p>
            <a:pPr>
              <a:defRPr sz="2000"/>
            </a:pPr>
            <a:r>
              <a:t>Unified response contract: `Flow&lt;ResultState&lt;T&gt;&gt;`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Core Features Included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Authentication</a:t>
            </a:r>
          </a:p>
          <a:p>
            <a:pPr>
              <a:defRPr sz="2000"/>
            </a:pPr>
            <a:r>
              <a:t>2. User Preferences</a:t>
            </a:r>
          </a:p>
          <a:p>
            <a:pPr>
              <a:defRPr sz="2000"/>
            </a:pPr>
            <a:r>
              <a:t>3. Itinerary Retrieval</a:t>
            </a:r>
          </a:p>
          <a:p>
            <a:pPr>
              <a:defRPr sz="2000"/>
            </a:pPr>
            <a:r>
              <a:t>4. Kitchen Ordering</a:t>
            </a:r>
          </a:p>
          <a:p>
            <a:pPr>
              <a:defRPr sz="2000"/>
            </a:pPr>
            <a:r>
              <a:t>5. Admin Chat (near real-time)</a:t>
            </a:r>
          </a:p>
          <a:p>
            <a:pPr>
              <a:defRPr sz="2000"/>
            </a:pPr>
            <a:r>
              <a:t>6. Offline Queue + Sync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Standard Feature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UI event triggers ViewModel action</a:t>
            </a:r>
          </a:p>
          <a:p>
            <a:pPr>
              <a:defRPr sz="2000"/>
            </a:pPr>
            <a:r>
              <a:t>2. ViewModel calls UseCase</a:t>
            </a:r>
          </a:p>
          <a:p>
            <a:pPr>
              <a:defRPr sz="2000"/>
            </a:pPr>
            <a:r>
              <a:t>3. UseCase calls Repository contract</a:t>
            </a:r>
          </a:p>
          <a:p>
            <a:pPr>
              <a:defRPr sz="2000"/>
            </a:pPr>
            <a:r>
              <a:t>4. Repository implementation resolves local/remote/sync path</a:t>
            </a:r>
          </a:p>
          <a:p>
            <a:pPr>
              <a:defRPr sz="2000"/>
            </a:pPr>
            <a:r>
              <a:t>5. Result flows back via StateFlow/Flow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Login Flow (End-to-End)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 submits credentials</a:t>
            </a:r>
          </a:p>
          <a:p>
            <a:pPr>
              <a:defRPr sz="2000"/>
            </a:pPr>
            <a:r>
              <a:t>`LoginUseCase` validates and delegates</a:t>
            </a:r>
          </a:p>
          <a:p>
            <a:pPr>
              <a:defRPr sz="2000"/>
            </a:pPr>
            <a:r>
              <a:t>Repository calls remote login (if online)</a:t>
            </a:r>
          </a:p>
          <a:p>
            <a:pPr>
              <a:defRPr sz="2000"/>
            </a:pPr>
            <a:r>
              <a:t>Session + token persisted securely</a:t>
            </a:r>
          </a:p>
          <a:p>
            <a:pPr>
              <a:defRPr sz="2000"/>
            </a:pPr>
            <a:r>
              <a:t>Offline fallback uses cached valid session</a:t>
            </a:r>
          </a:p>
          <a:p>
            <a:pPr>
              <a:defRPr sz="2000"/>
            </a:pPr>
            <a:r>
              <a:t>UI reacts to Success/Error state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Food Ordering (Why Architecture Matters)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Ordering is a multi-capability domain, not a single API call:</a:t>
            </a:r>
          </a:p>
          <a:p>
            <a:pPr>
              <a:defRPr sz="2000"/>
            </a:pPr>
            <a:r>
              <a:t>Get menu</a:t>
            </a:r>
          </a:p>
          <a:p>
            <a:pPr>
              <a:defRPr sz="2000"/>
            </a:pPr>
            <a:r>
              <a:t>Add/update cart</a:t>
            </a:r>
          </a:p>
          <a:p>
            <a:pPr>
              <a:defRPr sz="2000"/>
            </a:pPr>
            <a:r>
              <a:t>Place order</a:t>
            </a:r>
          </a:p>
          <a:p>
            <a:pPr>
              <a:defRPr sz="2000"/>
            </a:pPr>
            <a:r>
              <a:t>Track order</a:t>
            </a:r>
          </a:p>
          <a:p>
            <a:pPr>
              <a:defRPr sz="2000"/>
            </a:pPr>
            <a:r>
              <a:t>Cancel order</a:t>
            </a:r>
          </a:p>
          <a:p>
            <a:pPr>
              <a:defRPr sz="2000"/>
            </a:pPr>
            <a:r>
              <a:t>(Future) discounts, reorder, split payment</a:t>
            </a:r>
          </a:p>
          <a:p>
            <a:pPr>
              <a:defRPr sz="2000"/>
            </a:pPr>
            <a:r>
              <a:t>Message: each business action has its own UseCase.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Menu + Cart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Menu uses cache-aware retrieval</a:t>
            </a:r>
          </a:p>
          <a:p>
            <a:pPr>
              <a:defRPr sz="2000"/>
            </a:pPr>
            <a:r>
              <a:t>Cart is local-first for instant UX</a:t>
            </a:r>
          </a:p>
          <a:p>
            <a:pPr>
              <a:defRPr sz="2000"/>
            </a:pPr>
            <a:r>
              <a:t>Quantity/remove operations update local DB immediately</a:t>
            </a:r>
          </a:p>
          <a:p>
            <a:pPr>
              <a:defRPr sz="2000"/>
            </a:pPr>
            <a:r>
              <a:t>Business rules applied in UseCases (limits, stock checks, totals)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Place Order Flow (Critical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Validate cart/payment/order window</a:t>
            </a:r>
          </a:p>
          <a:p>
            <a:pPr>
              <a:defRPr sz="2000"/>
            </a:pPr>
            <a:r>
              <a:t>Write order locally first (`pendingSync`)</a:t>
            </a:r>
          </a:p>
          <a:p>
            <a:pPr>
              <a:defRPr sz="2000"/>
            </a:pPr>
            <a:r>
              <a:t>If online: push immediately</a:t>
            </a:r>
          </a:p>
          <a:p>
            <a:pPr>
              <a:defRPr sz="2000"/>
            </a:pPr>
            <a:r>
              <a:t>If offline: queue operation</a:t>
            </a:r>
          </a:p>
          <a:p>
            <a:pPr>
              <a:defRPr sz="2000"/>
            </a:pPr>
            <a:r>
              <a:t>Sync engine retries with backoff</a:t>
            </a:r>
          </a:p>
          <a:p>
            <a:pPr>
              <a:defRPr sz="2000"/>
            </a:pPr>
            <a:r>
              <a:t>Kitchen/admin notified once accepted</a:t>
            </a:r>
          </a:p>
          <a:p>
            <a:pPr>
              <a:defRPr sz="2000"/>
            </a:pPr>
            <a:r>
              <a:t>Message: no lost user intent during network instability.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Track/Cancel Order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Tracking: repository emits status stream (`Placed -&gt; Preparing -&gt; Delivered`)</a:t>
            </a:r>
          </a:p>
          <a:p>
            <a:pPr>
              <a:defRPr sz="2000"/>
            </a:pPr>
            <a:r>
              <a:t>Cancel: rule-driven (allowed only at valid stage)</a:t>
            </a:r>
          </a:p>
          <a:p>
            <a:pPr>
              <a:defRPr sz="2000"/>
            </a:pPr>
            <a:r>
              <a:t>Local and backend status remain synchronized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Chat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Send message -&gt; local-first write</a:t>
            </a:r>
          </a:p>
          <a:p>
            <a:pPr>
              <a:defRPr sz="2000"/>
            </a:pPr>
            <a:r>
              <a:t>Online send immediately; offline queue if needed</a:t>
            </a:r>
          </a:p>
          <a:p>
            <a:pPr>
              <a:defRPr sz="2000"/>
            </a:pPr>
            <a:r>
              <a:t>Receive via stream + polling fallback</a:t>
            </a:r>
          </a:p>
          <a:p>
            <a:pPr>
              <a:defRPr sz="2000"/>
            </a:pPr>
            <a:r>
              <a:t>UI updates reactively from local 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Offline-First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Local DB/storage is single source of truth</a:t>
            </a:r>
          </a:p>
          <a:p>
            <a:pPr>
              <a:defRPr sz="2000"/>
            </a:pPr>
            <a:r>
              <a:t>Reads always from local</a:t>
            </a:r>
          </a:p>
          <a:p>
            <a:pPr>
              <a:defRPr sz="2000"/>
            </a:pPr>
            <a:r>
              <a:t>Writes always persisted locally first</a:t>
            </a:r>
          </a:p>
          <a:p>
            <a:pPr>
              <a:defRPr sz="2000"/>
            </a:pPr>
            <a:r>
              <a:t>Pending operations stored in sync queue</a:t>
            </a:r>
          </a:p>
          <a:p>
            <a:pPr>
              <a:defRPr sz="2000"/>
            </a:pPr>
            <a:r>
              <a:t>Background and reconnect-triggered synchronization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Sync Engine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Queue item fields: operation, payload, timestamp, retryCount</a:t>
            </a:r>
          </a:p>
          <a:p>
            <a:pPr>
              <a:defRPr sz="2000"/>
            </a:pPr>
            <a:r>
              <a:t>Sync cycle:</a:t>
            </a:r>
          </a:p>
          <a:p>
            <a:pPr>
              <a:defRPr sz="2000"/>
            </a:pPr>
            <a:r>
              <a:t>1. Pull remote changes</a:t>
            </a:r>
          </a:p>
          <a:p>
            <a:pPr>
              <a:defRPr sz="2000"/>
            </a:pPr>
            <a:r>
              <a:t>2. Push local pending changes</a:t>
            </a:r>
          </a:p>
          <a:p>
            <a:pPr>
              <a:defRPr sz="2000"/>
            </a:pPr>
            <a:r>
              <a:t>3. Resolve conflicts</a:t>
            </a:r>
          </a:p>
          <a:p>
            <a:pPr>
              <a:defRPr sz="2000"/>
            </a:pPr>
            <a:r>
              <a:t>4. Update local state + queue</a:t>
            </a:r>
          </a:p>
          <a:p>
            <a:pPr>
              <a:defRPr sz="2000"/>
            </a:pPr>
            <a:r>
              <a:t>Retry uses exponential backoff</a:t>
            </a:r>
          </a:p>
          <a:p>
            <a:pPr>
              <a:defRPr sz="2000"/>
            </a:pPr>
            <a:r>
              <a:t>Conflict resolution default: Last Write Wins (extensible)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KMM shared module</a:t>
            </a:r>
          </a:p>
          <a:p>
            <a:pPr>
              <a:defRPr sz="2000"/>
            </a:pPr>
            <a:r>
              <a:t>Coroutines + Flow</a:t>
            </a:r>
          </a:p>
          <a:p>
            <a:pPr>
              <a:defRPr sz="2000"/>
            </a:pPr>
            <a:r>
              <a:t>Ktor client</a:t>
            </a:r>
          </a:p>
          <a:p>
            <a:pPr>
              <a:defRPr sz="2000"/>
            </a:pPr>
            <a:r>
              <a:t>SQLDelight-ready local abstraction</a:t>
            </a:r>
          </a:p>
          <a:p>
            <a:pPr>
              <a:defRPr sz="2000"/>
            </a:pPr>
            <a:r>
              <a:t>WebSocket/polling support for realtime</a:t>
            </a:r>
          </a:p>
          <a:p>
            <a:pPr>
              <a:defRPr sz="2000"/>
            </a:pPr>
            <a:r>
              <a:t>Expect/actual platform adapters (device info, logging, file, monitor, token factory)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Quality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Unit tests for UseCases, repositories, sync engine, SDK facade</a:t>
            </a:r>
          </a:p>
          <a:p>
            <a:pPr>
              <a:defRPr sz="2000"/>
            </a:pPr>
            <a:r>
              <a:t>Kover coverage gate on shared module</a:t>
            </a:r>
          </a:p>
          <a:p>
            <a:pPr>
              <a:defRPr sz="2000"/>
            </a:pPr>
            <a:r>
              <a:t>Build fails if coverage threshold not met</a:t>
            </a:r>
          </a:p>
          <a:p>
            <a:pPr>
              <a:defRPr sz="2000"/>
            </a:pPr>
            <a:r>
              <a:t>Predictable release quality and lower regression risk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Client Value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Faster feature onboarding</a:t>
            </a:r>
          </a:p>
          <a:p>
            <a:pPr>
              <a:defRPr sz="2000"/>
            </a:pPr>
            <a:r>
              <a:t>Fewer production regressions</a:t>
            </a:r>
          </a:p>
          <a:p>
            <a:pPr>
              <a:defRPr sz="2000"/>
            </a:pPr>
            <a:r>
              <a:t>Better offline reliability and guest trust</a:t>
            </a:r>
          </a:p>
          <a:p>
            <a:pPr>
              <a:defRPr sz="2000"/>
            </a:pPr>
            <a:r>
              <a:t>Easier long-term maintainability</a:t>
            </a:r>
          </a:p>
          <a:p>
            <a:pPr>
              <a:defRPr sz="2000"/>
            </a:pPr>
            <a:r>
              <a:t>Cross-platform consistency without duplicated business logic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Roadmap (Next Hardening)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Replace in-memory local store with persistent SQLDelight implementation</a:t>
            </a:r>
          </a:p>
          <a:p>
            <a:pPr>
              <a:defRPr sz="2000"/>
            </a:pPr>
            <a:r>
              <a:t>Platform-secure token storage (Keystore/Keychain)</a:t>
            </a:r>
          </a:p>
          <a:p>
            <a:pPr>
              <a:defRPr sz="2000"/>
            </a:pPr>
            <a:r>
              <a:t>Advanced telemetry for sync diagnostics</a:t>
            </a:r>
          </a:p>
          <a:p>
            <a:pPr>
              <a:defRPr sz="2000"/>
            </a:pPr>
            <a:r>
              <a:t>Optional websocket-first chat transport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“A scalable system is not built by writing more code; it is built by placing the right responsibilities in the right layers.”</a:t>
            </a:r>
          </a:p>
          <a:p>
            <a:pPr>
              <a:defRPr sz="2000"/>
            </a:pPr>
            <a: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